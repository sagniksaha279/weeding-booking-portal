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6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2C1F"/>
    <a:srgbClr val="DF9041"/>
    <a:srgbClr val="ADADAD"/>
    <a:srgbClr val="FDF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3T22:50:57.163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6533.36328"/>
      <inkml:brushProperty name="anchorY" value="-19490.95898"/>
      <inkml:brushProperty name="scaleFactor" value="0.5"/>
    </inkml:brush>
  </inkml:definitions>
  <inkml:trace contextRef="#ctx0" brushRef="#br0">1 0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1.xml"/><Relationship Id="rId3" Type="http://schemas.openxmlformats.org/officeDocument/2006/relationships/image" Target="../media/image3.png"/><Relationship Id="rId7" Type="http://schemas.openxmlformats.org/officeDocument/2006/relationships/slide" Target="slide6.xml"/><Relationship Id="rId12" Type="http://schemas.openxmlformats.org/officeDocument/2006/relationships/slide" Target="slide2.xml"/><Relationship Id="rId17" Type="http://schemas.openxmlformats.org/officeDocument/2006/relationships/slide" Target="slide15.xml"/><Relationship Id="rId2" Type="http://schemas.openxmlformats.org/officeDocument/2006/relationships/slide" Target="slide7.xml"/><Relationship Id="rId16" Type="http://schemas.openxmlformats.org/officeDocument/2006/relationships/slide" Target="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.xml"/><Relationship Id="rId11" Type="http://schemas.openxmlformats.org/officeDocument/2006/relationships/slide" Target="slide9.xml"/><Relationship Id="rId5" Type="http://schemas.openxmlformats.org/officeDocument/2006/relationships/slide" Target="slide4.xml"/><Relationship Id="rId15" Type="http://schemas.openxmlformats.org/officeDocument/2006/relationships/slide" Target="slide13.xml"/><Relationship Id="rId10" Type="http://schemas.openxmlformats.org/officeDocument/2006/relationships/slide" Target="slide16.xml"/><Relationship Id="rId4" Type="http://schemas.openxmlformats.org/officeDocument/2006/relationships/slide" Target="slide3.xml"/><Relationship Id="rId9" Type="http://schemas.openxmlformats.org/officeDocument/2006/relationships/slide" Target="slide10.xml"/><Relationship Id="rId1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eeding-chapter.vercel.app/book" TargetMode="External"/><Relationship Id="rId13" Type="http://schemas.openxmlformats.org/officeDocument/2006/relationships/hyperlink" Target="https://weeding-chapter.vercel.app/admin" TargetMode="External"/><Relationship Id="rId3" Type="http://schemas.openxmlformats.org/officeDocument/2006/relationships/hyperlink" Target="https://weeding-chapter.vercel.app/" TargetMode="External"/><Relationship Id="rId7" Type="http://schemas.openxmlformats.org/officeDocument/2006/relationships/image" Target="../media/image12.png"/><Relationship Id="rId12" Type="http://schemas.openxmlformats.org/officeDocument/2006/relationships/hyperlink" Target="https://drive.google.com/drive/folders/1KDTUOvXSt0bjnj93st8FC2P7tDbjv2Rf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eeding-chapter.vercel.app/vendors" TargetMode="External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hyperlink" Target="https://weeding-chapter.vercel.app/guests" TargetMode="External"/><Relationship Id="rId10" Type="http://schemas.openxmlformats.org/officeDocument/2006/relationships/hyperlink" Target="https://weeding-chapter.vercel.app/dashboard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3.png"/><Relationship Id="rId1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eeding-chapter.vercel.app/" TargetMode="External"/><Relationship Id="rId4" Type="http://schemas.openxmlformats.org/officeDocument/2006/relationships/image" Target="../media/image1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.png"/>
          <p:cNvPicPr>
            <a:picLocks noChangeAspect="1"/>
          </p:cNvPicPr>
          <p:nvPr/>
        </p:nvPicPr>
        <p:blipFill rotWithShape="1">
          <a:blip r:embed="rId2"/>
          <a:srcRect r="32866" b="32157"/>
          <a:stretch/>
        </p:blipFill>
        <p:spPr>
          <a:xfrm>
            <a:off x="0" y="0"/>
            <a:ext cx="12191999" cy="69306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41C679-5F93-BA48-6F3A-730B14638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5" y="5702712"/>
            <a:ext cx="3488054" cy="64892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E518577-A490-AC1A-7B6F-264A83A9952C}"/>
              </a:ext>
            </a:extLst>
          </p:cNvPr>
          <p:cNvSpPr/>
          <p:nvPr/>
        </p:nvSpPr>
        <p:spPr>
          <a:xfrm>
            <a:off x="3338050" y="4414687"/>
            <a:ext cx="5515897" cy="1258529"/>
          </a:xfrm>
          <a:prstGeom prst="roundRect">
            <a:avLst/>
          </a:prstGeom>
          <a:solidFill>
            <a:srgbClr val="FDF8F3"/>
          </a:solidFill>
          <a:ln>
            <a:solidFill>
              <a:srgbClr val="FD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Debmalya Bhattacharyya - 31442723020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Rumpi Saha - 31442723056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Sagnik Saha - 31442723059</a:t>
            </a:r>
            <a:endParaRPr lang="en-IN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.png">
            <a:hlinkClick r:id="rId2" action="ppaction://hlinksldjump"/>
          </p:cNvPr>
          <p:cNvPicPr>
            <a:picLocks noChangeAspect="1"/>
          </p:cNvPicPr>
          <p:nvPr/>
        </p:nvPicPr>
        <p:blipFill rotWithShape="1">
          <a:blip r:embed="rId3"/>
          <a:srcRect r="33013" b="32026"/>
          <a:stretch/>
        </p:blipFill>
        <p:spPr>
          <a:xfrm>
            <a:off x="0" y="0"/>
            <a:ext cx="12192000" cy="6959210"/>
          </a:xfrm>
          <a:prstGeom prst="rect">
            <a:avLst/>
          </a:prstGeom>
          <a:ln>
            <a:noFill/>
          </a:ln>
        </p:spPr>
      </p:pic>
      <p:sp>
        <p:nvSpPr>
          <p:cNvPr id="3" name="Rectangle 2">
            <a:hlinkClick r:id="rId4" action="ppaction://hlinksldjump"/>
            <a:extLst>
              <a:ext uri="{FF2B5EF4-FFF2-40B4-BE49-F238E27FC236}">
                <a16:creationId xmlns:a16="http://schemas.microsoft.com/office/drawing/2014/main" id="{DBE6B4D5-5399-0030-4108-C31B94AEBFEC}"/>
              </a:ext>
            </a:extLst>
          </p:cNvPr>
          <p:cNvSpPr/>
          <p:nvPr/>
        </p:nvSpPr>
        <p:spPr>
          <a:xfrm>
            <a:off x="766916" y="2271252"/>
            <a:ext cx="2163097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hlinkClick r:id="rId5" action="ppaction://hlinksldjump"/>
            <a:extLst>
              <a:ext uri="{FF2B5EF4-FFF2-40B4-BE49-F238E27FC236}">
                <a16:creationId xmlns:a16="http://schemas.microsoft.com/office/drawing/2014/main" id="{5CA618A3-FA8C-23D2-027B-9D2C17D77E0B}"/>
              </a:ext>
            </a:extLst>
          </p:cNvPr>
          <p:cNvSpPr/>
          <p:nvPr/>
        </p:nvSpPr>
        <p:spPr>
          <a:xfrm>
            <a:off x="766916" y="2585884"/>
            <a:ext cx="1956619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hlinkClick r:id="rId6" action="ppaction://hlinksldjump"/>
            <a:extLst>
              <a:ext uri="{FF2B5EF4-FFF2-40B4-BE49-F238E27FC236}">
                <a16:creationId xmlns:a16="http://schemas.microsoft.com/office/drawing/2014/main" id="{D799C585-C5F0-3249-C621-62DE08601D9F}"/>
              </a:ext>
            </a:extLst>
          </p:cNvPr>
          <p:cNvSpPr/>
          <p:nvPr/>
        </p:nvSpPr>
        <p:spPr>
          <a:xfrm>
            <a:off x="766916" y="2900516"/>
            <a:ext cx="2772697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hlinkClick r:id="rId7" action="ppaction://hlinksldjump"/>
            <a:extLst>
              <a:ext uri="{FF2B5EF4-FFF2-40B4-BE49-F238E27FC236}">
                <a16:creationId xmlns:a16="http://schemas.microsoft.com/office/drawing/2014/main" id="{9B66E69E-CBCF-A1BA-BB08-2557025DD6D8}"/>
              </a:ext>
            </a:extLst>
          </p:cNvPr>
          <p:cNvSpPr/>
          <p:nvPr/>
        </p:nvSpPr>
        <p:spPr>
          <a:xfrm>
            <a:off x="766916" y="3292793"/>
            <a:ext cx="2359742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890186-F852-F7ED-0EEE-1466676522AA}"/>
              </a:ext>
            </a:extLst>
          </p:cNvPr>
          <p:cNvSpPr/>
          <p:nvPr/>
        </p:nvSpPr>
        <p:spPr>
          <a:xfrm>
            <a:off x="766916" y="3652178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hlinkClick r:id="rId8" action="ppaction://hlinksldjump"/>
            <a:extLst>
              <a:ext uri="{FF2B5EF4-FFF2-40B4-BE49-F238E27FC236}">
                <a16:creationId xmlns:a16="http://schemas.microsoft.com/office/drawing/2014/main" id="{AB719532-4458-D502-780C-3CA517CB0CF4}"/>
              </a:ext>
            </a:extLst>
          </p:cNvPr>
          <p:cNvSpPr/>
          <p:nvPr/>
        </p:nvSpPr>
        <p:spPr>
          <a:xfrm>
            <a:off x="737419" y="3946702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hlinkClick r:id="rId9" action="ppaction://hlinksldjump"/>
            <a:extLst>
              <a:ext uri="{FF2B5EF4-FFF2-40B4-BE49-F238E27FC236}">
                <a16:creationId xmlns:a16="http://schemas.microsoft.com/office/drawing/2014/main" id="{39A71DC5-3A4E-AA84-274B-59DF293838BD}"/>
              </a:ext>
            </a:extLst>
          </p:cNvPr>
          <p:cNvSpPr/>
          <p:nvPr/>
        </p:nvSpPr>
        <p:spPr>
          <a:xfrm>
            <a:off x="737418" y="4664520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Rectangle 9">
            <a:hlinkClick r:id="rId10" action="ppaction://hlinksldjump"/>
            <a:extLst>
              <a:ext uri="{FF2B5EF4-FFF2-40B4-BE49-F238E27FC236}">
                <a16:creationId xmlns:a16="http://schemas.microsoft.com/office/drawing/2014/main" id="{5D30AEC6-26DD-889B-138E-666DE6980CB1}"/>
              </a:ext>
            </a:extLst>
          </p:cNvPr>
          <p:cNvSpPr/>
          <p:nvPr/>
        </p:nvSpPr>
        <p:spPr>
          <a:xfrm>
            <a:off x="766917" y="4995484"/>
            <a:ext cx="1150374" cy="1629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>
            <a:hlinkClick r:id="rId11" action="ppaction://hlinksldjump"/>
            <a:extLst>
              <a:ext uri="{FF2B5EF4-FFF2-40B4-BE49-F238E27FC236}">
                <a16:creationId xmlns:a16="http://schemas.microsoft.com/office/drawing/2014/main" id="{DD9DC0B6-F13B-73FC-23B3-3AA4F73DEDE0}"/>
              </a:ext>
            </a:extLst>
          </p:cNvPr>
          <p:cNvSpPr/>
          <p:nvPr/>
        </p:nvSpPr>
        <p:spPr>
          <a:xfrm>
            <a:off x="703005" y="4333555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3722B9-F0E2-1532-F98D-1135F683FE63}"/>
              </a:ext>
            </a:extLst>
          </p:cNvPr>
          <p:cNvSpPr/>
          <p:nvPr/>
        </p:nvSpPr>
        <p:spPr>
          <a:xfrm>
            <a:off x="703005" y="1799303"/>
            <a:ext cx="4055808" cy="43962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System Requirements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System Flowchart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E-R Diagram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 Flow Diagram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 &amp; Performance Comparison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Execution &amp; Demo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Job Responsibilities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Stakeholders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Database Schema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Security &amp; Auth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 API endpoints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Challenges Faced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Future Scope 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1500" dirty="0">
                <a:solidFill>
                  <a:srgbClr val="3D2C1F">
                    <a:alpha val="92000"/>
                  </a:srgbClr>
                </a:solidFill>
                <a:latin typeface="Myanmar Text" panose="020B0502040204020203" pitchFamily="34" charset="0"/>
                <a:cs typeface="Myanmar Text" panose="020B0502040204020203" pitchFamily="34" charset="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 You</a:t>
            </a: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IN" sz="1500" dirty="0">
              <a:solidFill>
                <a:srgbClr val="3D2C1F">
                  <a:alpha val="92000"/>
                </a:srgbClr>
              </a:solidFill>
              <a:latin typeface="Myanmar Text" panose="020B0502040204020203" pitchFamily="34" charset="0"/>
              <a:cs typeface="Myanmar Text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.png"/>
          <p:cNvPicPr>
            <a:picLocks noChangeAspect="1"/>
          </p:cNvPicPr>
          <p:nvPr/>
        </p:nvPicPr>
        <p:blipFill rotWithShape="1">
          <a:blip r:embed="rId2"/>
          <a:srcRect r="33749" b="33726"/>
          <a:stretch/>
        </p:blipFill>
        <p:spPr>
          <a:xfrm>
            <a:off x="0" y="-1"/>
            <a:ext cx="12191999" cy="6860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3.png"/>
          <p:cNvPicPr>
            <a:picLocks noChangeAspect="1"/>
          </p:cNvPicPr>
          <p:nvPr/>
        </p:nvPicPr>
        <p:blipFill rotWithShape="1">
          <a:blip r:embed="rId2"/>
          <a:srcRect r="33307" b="34379"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4.png"/>
          <p:cNvPicPr>
            <a:picLocks noChangeAspect="1"/>
          </p:cNvPicPr>
          <p:nvPr/>
        </p:nvPicPr>
        <p:blipFill rotWithShape="1">
          <a:blip r:embed="rId2"/>
          <a:srcRect r="33454" b="33333"/>
          <a:stretch/>
        </p:blipFill>
        <p:spPr>
          <a:xfrm>
            <a:off x="0" y="0"/>
            <a:ext cx="12192000" cy="68706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5.png"/>
          <p:cNvPicPr>
            <a:picLocks noChangeAspect="1"/>
          </p:cNvPicPr>
          <p:nvPr/>
        </p:nvPicPr>
        <p:blipFill rotWithShape="1">
          <a:blip r:embed="rId2"/>
          <a:srcRect r="33234" b="32810"/>
          <a:stretch/>
        </p:blipFill>
        <p:spPr>
          <a:xfrm>
            <a:off x="0" y="0"/>
            <a:ext cx="12192000" cy="69016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6.png"/>
          <p:cNvPicPr>
            <a:picLocks noChangeAspect="1"/>
          </p:cNvPicPr>
          <p:nvPr/>
        </p:nvPicPr>
        <p:blipFill rotWithShape="1">
          <a:blip r:embed="rId2"/>
          <a:srcRect r="33160" b="33464"/>
          <a:stretch/>
        </p:blipFill>
        <p:spPr>
          <a:xfrm>
            <a:off x="0" y="0"/>
            <a:ext cx="12191999" cy="6826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7.png"/>
          <p:cNvPicPr>
            <a:picLocks noChangeAspect="1"/>
          </p:cNvPicPr>
          <p:nvPr/>
        </p:nvPicPr>
        <p:blipFill rotWithShape="1">
          <a:blip r:embed="rId2"/>
          <a:srcRect r="33160" b="33595"/>
          <a:stretch/>
        </p:blipFill>
        <p:spPr>
          <a:xfrm>
            <a:off x="0" y="0"/>
            <a:ext cx="122714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898CEF-43F4-7214-4662-154831FA0C7A}"/>
              </a:ext>
            </a:extLst>
          </p:cNvPr>
          <p:cNvSpPr/>
          <p:nvPr/>
        </p:nvSpPr>
        <p:spPr>
          <a:xfrm>
            <a:off x="540774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hlinkClick r:id="rId3"/>
            <a:extLst>
              <a:ext uri="{FF2B5EF4-FFF2-40B4-BE49-F238E27FC236}">
                <a16:creationId xmlns:a16="http://schemas.microsoft.com/office/drawing/2014/main" id="{8F816FDE-EC40-CCB0-6829-9EF830B9C92B}"/>
              </a:ext>
            </a:extLst>
          </p:cNvPr>
          <p:cNvSpPr/>
          <p:nvPr/>
        </p:nvSpPr>
        <p:spPr>
          <a:xfrm>
            <a:off x="540774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F1C761-E2CD-CD08-E964-C28A760A0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342" y="1288025"/>
            <a:ext cx="3224981" cy="1425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E8A4C8-042F-5EDC-90F4-7E64CE93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161" y="1288026"/>
            <a:ext cx="3229510" cy="1382282"/>
          </a:xfrm>
          <a:prstGeom prst="rect">
            <a:avLst/>
          </a:prstGeom>
        </p:spPr>
      </p:pic>
      <p:sp>
        <p:nvSpPr>
          <p:cNvPr id="10" name="Rectangle 9">
            <a:hlinkClick r:id="rId6"/>
            <a:extLst>
              <a:ext uri="{FF2B5EF4-FFF2-40B4-BE49-F238E27FC236}">
                <a16:creationId xmlns:a16="http://schemas.microsoft.com/office/drawing/2014/main" id="{DC92F918-4734-6E4C-77D8-68180D0626C2}"/>
              </a:ext>
            </a:extLst>
          </p:cNvPr>
          <p:cNvSpPr/>
          <p:nvPr/>
        </p:nvSpPr>
        <p:spPr>
          <a:xfrm>
            <a:off x="4385187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AA8617F-4A4F-020E-5791-347F206A3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803" y="1278195"/>
            <a:ext cx="3166700" cy="1382282"/>
          </a:xfrm>
          <a:prstGeom prst="rect">
            <a:avLst/>
          </a:prstGeom>
        </p:spPr>
      </p:pic>
      <p:sp>
        <p:nvSpPr>
          <p:cNvPr id="15" name="Rectangle 14">
            <a:hlinkClick r:id="rId8"/>
            <a:extLst>
              <a:ext uri="{FF2B5EF4-FFF2-40B4-BE49-F238E27FC236}">
                <a16:creationId xmlns:a16="http://schemas.microsoft.com/office/drawing/2014/main" id="{6A85E9D0-E393-4E7A-6E9E-3DEEAFA10EA0}"/>
              </a:ext>
            </a:extLst>
          </p:cNvPr>
          <p:cNvSpPr/>
          <p:nvPr/>
        </p:nvSpPr>
        <p:spPr>
          <a:xfrm>
            <a:off x="8219768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418507-F355-CBEA-19B2-92486B3D56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161" y="3657599"/>
            <a:ext cx="3229510" cy="1366685"/>
          </a:xfrm>
          <a:prstGeom prst="rect">
            <a:avLst/>
          </a:prstGeom>
        </p:spPr>
      </p:pic>
      <p:sp>
        <p:nvSpPr>
          <p:cNvPr id="18" name="Rectangle 17">
            <a:hlinkClick r:id="rId10"/>
            <a:extLst>
              <a:ext uri="{FF2B5EF4-FFF2-40B4-BE49-F238E27FC236}">
                <a16:creationId xmlns:a16="http://schemas.microsoft.com/office/drawing/2014/main" id="{B27D752A-A8A9-4D46-173E-ABD2C7D78072}"/>
              </a:ext>
            </a:extLst>
          </p:cNvPr>
          <p:cNvSpPr/>
          <p:nvPr/>
        </p:nvSpPr>
        <p:spPr>
          <a:xfrm>
            <a:off x="540774" y="3539613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2068F6E-2100-DC6F-D5F4-9AC19A985B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3507" y="3667431"/>
            <a:ext cx="3184816" cy="1366685"/>
          </a:xfrm>
          <a:prstGeom prst="rect">
            <a:avLst/>
          </a:prstGeom>
        </p:spPr>
      </p:pic>
      <p:sp>
        <p:nvSpPr>
          <p:cNvPr id="21" name="Rectangle 20">
            <a:hlinkClick r:id="rId12"/>
            <a:extLst>
              <a:ext uri="{FF2B5EF4-FFF2-40B4-BE49-F238E27FC236}">
                <a16:creationId xmlns:a16="http://schemas.microsoft.com/office/drawing/2014/main" id="{1A568B80-B418-F0D1-081B-0C982FEDF3F6}"/>
              </a:ext>
            </a:extLst>
          </p:cNvPr>
          <p:cNvSpPr/>
          <p:nvPr/>
        </p:nvSpPr>
        <p:spPr>
          <a:xfrm>
            <a:off x="540775" y="5926393"/>
            <a:ext cx="11179278" cy="416642"/>
          </a:xfrm>
          <a:prstGeom prst="rect">
            <a:avLst/>
          </a:prstGeom>
          <a:solidFill>
            <a:srgbClr val="3D2C1F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25400"/>
          </a:effectLst>
          <a:scene3d>
            <a:camera prst="orthographicFront"/>
            <a:lightRig rig="threePt" dir="t"/>
          </a:scene3d>
          <a:sp3d>
            <a:bevelT w="6350" h="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Aptos" panose="020B0004020202020204" pitchFamily="34" charset="0"/>
                <a:ea typeface="Cambria Math" panose="02040503050406030204" pitchFamily="18" charset="0"/>
              </a:rPr>
              <a:t>Execution Video </a:t>
            </a:r>
            <a:r>
              <a:rPr lang="en-IN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: Video-link</a:t>
            </a:r>
          </a:p>
        </p:txBody>
      </p:sp>
      <p:sp>
        <p:nvSpPr>
          <p:cNvPr id="23" name="Rectangle 22">
            <a:hlinkClick r:id="rId13"/>
            <a:extLst>
              <a:ext uri="{FF2B5EF4-FFF2-40B4-BE49-F238E27FC236}">
                <a16:creationId xmlns:a16="http://schemas.microsoft.com/office/drawing/2014/main" id="{B41CF31D-11B5-8A8E-9987-08652DA74E1E}"/>
              </a:ext>
            </a:extLst>
          </p:cNvPr>
          <p:cNvSpPr/>
          <p:nvPr/>
        </p:nvSpPr>
        <p:spPr>
          <a:xfrm>
            <a:off x="4385187" y="3539613"/>
            <a:ext cx="3500284" cy="2268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6DAFAE5-83C0-DE6E-9ED1-DAE6EF03916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8803" y="3667431"/>
            <a:ext cx="3176532" cy="1390983"/>
          </a:xfrm>
          <a:prstGeom prst="rect">
            <a:avLst/>
          </a:prstGeom>
        </p:spPr>
      </p:pic>
      <p:sp>
        <p:nvSpPr>
          <p:cNvPr id="26" name="Rectangle 25">
            <a:hlinkClick r:id="rId15"/>
            <a:extLst>
              <a:ext uri="{FF2B5EF4-FFF2-40B4-BE49-F238E27FC236}">
                <a16:creationId xmlns:a16="http://schemas.microsoft.com/office/drawing/2014/main" id="{C4DC9C7A-9CA1-7802-1C42-0F9EDE2672F3}"/>
              </a:ext>
            </a:extLst>
          </p:cNvPr>
          <p:cNvSpPr/>
          <p:nvPr/>
        </p:nvSpPr>
        <p:spPr>
          <a:xfrm>
            <a:off x="8219768" y="3539613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hlinkClick r:id="rId3"/>
            <a:extLst>
              <a:ext uri="{FF2B5EF4-FFF2-40B4-BE49-F238E27FC236}">
                <a16:creationId xmlns:a16="http://schemas.microsoft.com/office/drawing/2014/main" id="{1A7C2B09-89AF-2819-F9AE-98E3BC454F5C}"/>
              </a:ext>
            </a:extLst>
          </p:cNvPr>
          <p:cNvSpPr/>
          <p:nvPr/>
        </p:nvSpPr>
        <p:spPr>
          <a:xfrm>
            <a:off x="540775" y="1160206"/>
            <a:ext cx="3510115" cy="22614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8.png"/>
          <p:cNvPicPr>
            <a:picLocks noChangeAspect="1"/>
          </p:cNvPicPr>
          <p:nvPr/>
        </p:nvPicPr>
        <p:blipFill rotWithShape="1">
          <a:blip r:embed="rId2"/>
          <a:srcRect r="32940" b="33726"/>
          <a:stretch/>
        </p:blipFill>
        <p:spPr>
          <a:xfrm>
            <a:off x="0" y="-1"/>
            <a:ext cx="12191999" cy="68580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5D7D5A3-5D80-69C9-ABB3-CB35E623D009}"/>
              </a:ext>
            </a:extLst>
          </p:cNvPr>
          <p:cNvSpPr/>
          <p:nvPr/>
        </p:nvSpPr>
        <p:spPr>
          <a:xfrm>
            <a:off x="8042785" y="712839"/>
            <a:ext cx="3490452" cy="5997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</a:rPr>
              <a:t>Debmalya Bhattacharya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1CAAF9-2E3E-E734-DCDF-573DCA0A6FF2}"/>
              </a:ext>
            </a:extLst>
          </p:cNvPr>
          <p:cNvSpPr/>
          <p:nvPr/>
        </p:nvSpPr>
        <p:spPr>
          <a:xfrm>
            <a:off x="4281947" y="712839"/>
            <a:ext cx="3490452" cy="5997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</a:rPr>
              <a:t>Sagnik Saha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7E4F90-8E94-B04A-A4D3-C1370F5E7624}"/>
              </a:ext>
            </a:extLst>
          </p:cNvPr>
          <p:cNvSpPr/>
          <p:nvPr/>
        </p:nvSpPr>
        <p:spPr>
          <a:xfrm>
            <a:off x="6794089" y="3837037"/>
            <a:ext cx="3490452" cy="5997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</a:rPr>
              <a:t>- Rumpi Saha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435E32-C1CC-A490-3E39-AFDB6361E596}"/>
              </a:ext>
            </a:extLst>
          </p:cNvPr>
          <p:cNvSpPr/>
          <p:nvPr/>
        </p:nvSpPr>
        <p:spPr>
          <a:xfrm>
            <a:off x="3121740" y="3834579"/>
            <a:ext cx="3490452" cy="5997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</a:rPr>
              <a:t>- Rumpi Saha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D39903-B141-70E6-E5C2-3E2CEF18BB37}"/>
              </a:ext>
            </a:extLst>
          </p:cNvPr>
          <p:cNvSpPr/>
          <p:nvPr/>
        </p:nvSpPr>
        <p:spPr>
          <a:xfrm>
            <a:off x="658763" y="712839"/>
            <a:ext cx="3352798" cy="5997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/>
                </a:solidFill>
              </a:rPr>
              <a:t>Debmalya Bhattacharya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9.png"/>
          <p:cNvPicPr>
            <a:picLocks noChangeAspect="1"/>
          </p:cNvPicPr>
          <p:nvPr/>
        </p:nvPicPr>
        <p:blipFill rotWithShape="1">
          <a:blip r:embed="rId2"/>
          <a:srcRect r="33307" b="33595"/>
          <a:stretch/>
        </p:blipFill>
        <p:spPr>
          <a:xfrm>
            <a:off x="0" y="0"/>
            <a:ext cx="12191999" cy="68285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5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4A3728"/>
                </a:solidFill>
                <a:latin typeface="Liberation Serif"/>
              </a:rPr>
              <a:t>Database Schema &amp; Data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32688"/>
            <a:ext cx="2011680" cy="38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B6F47"/>
                </a:solidFill>
                <a:latin typeface="Calibri"/>
              </a:rPr>
              <a:t>11 Mongoose schemas power the MongoDB data layer, handling every aspect of wedding event planning with referential integrity.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303520" cy="3657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2000" b="0" i="0">
                <a:solidFill>
                  <a:srgbClr val="8B6F47"/>
                </a:solidFill>
                <a:latin typeface="Liberation Serif"/>
              </a:rPr>
              <a:t>Core Data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5303520" cy="9525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5303520" cy="50292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64008" cy="5029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A3728"/>
                </a:solidFill>
                <a:latin typeface="Liberation Serif"/>
              </a:rPr>
              <a:t>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28600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 dirty="0">
                <a:solidFill>
                  <a:srgbClr val="5C4D3E"/>
                </a:solidFill>
                <a:latin typeface="Calibri"/>
              </a:rPr>
              <a:t>name • email • password (</a:t>
            </a:r>
            <a:r>
              <a:rPr sz="1000" b="0" i="0" dirty="0" err="1">
                <a:solidFill>
                  <a:srgbClr val="5C4D3E"/>
                </a:solidFill>
                <a:latin typeface="Calibri"/>
              </a:rPr>
              <a:t>bcrypt</a:t>
            </a:r>
            <a:r>
              <a:rPr sz="1000" b="0" i="0" dirty="0">
                <a:solidFill>
                  <a:srgbClr val="5C4D3E"/>
                </a:solidFill>
                <a:latin typeface="Calibri"/>
              </a:rPr>
              <a:t>) • role [client/admin/vendor] • </a:t>
            </a:r>
            <a:r>
              <a:rPr sz="1000" b="0" i="0" dirty="0" err="1">
                <a:solidFill>
                  <a:srgbClr val="5C4D3E"/>
                </a:solidFill>
                <a:latin typeface="Calibri"/>
              </a:rPr>
              <a:t>profile_image</a:t>
            </a:r>
            <a:endParaRPr sz="1000" b="0" i="0" dirty="0">
              <a:solidFill>
                <a:srgbClr val="5C4D3E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2862072"/>
            <a:ext cx="5303520" cy="50292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862072"/>
            <a:ext cx="64008" cy="5029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A3728"/>
                </a:solidFill>
                <a:latin typeface="Liberation Serif"/>
              </a:rPr>
              <a:t>Booking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62072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5C4D3E"/>
                </a:solidFill>
                <a:latin typeface="Calibri"/>
              </a:rPr>
              <a:t>package_name • event_date • addons • status • payment_status • timeline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38144"/>
            <a:ext cx="5303520" cy="50292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438144"/>
            <a:ext cx="64008" cy="5029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438144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A3728"/>
                </a:solidFill>
                <a:latin typeface="Liberation Serif"/>
              </a:rPr>
              <a:t>Payment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38144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5C4D3E"/>
                </a:solidFill>
                <a:latin typeface="Calibri"/>
              </a:rPr>
              <a:t>booking_ref • amount • method [cash/card/UPI] • receipt_no • paid_at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14216"/>
            <a:ext cx="5303520" cy="50292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014216"/>
            <a:ext cx="64008" cy="5029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401421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A3728"/>
                </a:solidFill>
                <a:latin typeface="Liberation Serif"/>
              </a:rPr>
              <a:t>Guest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014216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5C4D3E"/>
                </a:solidFill>
                <a:latin typeface="Calibri"/>
              </a:rPr>
              <a:t>name • side [bride/groom] • rsvp_status • dietary • plus_one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90288"/>
            <a:ext cx="5303520" cy="50292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4590288"/>
            <a:ext cx="64008" cy="5029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59028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A3728"/>
                </a:solidFill>
                <a:latin typeface="Liberation Serif"/>
              </a:rPr>
              <a:t>Vendor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0288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5C4D3E"/>
                </a:solidFill>
                <a:latin typeface="Calibri"/>
              </a:rPr>
              <a:t>category (12+) • services • rating • price_range • portfolio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5303520" cy="50292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166360"/>
            <a:ext cx="64008" cy="5029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516636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4A3728"/>
                </a:solidFill>
                <a:latin typeface="Liberation Serif"/>
              </a:rPr>
              <a:t>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16636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5C4D3E"/>
                </a:solidFill>
                <a:latin typeface="Calibri"/>
              </a:rPr>
              <a:t>rating • comment • admin_reply • client_ref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783080"/>
            <a:ext cx="5486400" cy="3657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2000" b="0" i="0">
                <a:solidFill>
                  <a:srgbClr val="8B6F47"/>
                </a:solidFill>
                <a:latin typeface="Liberation Serif"/>
              </a:rPr>
              <a:t>Supporting Models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148840"/>
            <a:ext cx="5486400" cy="9525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17920" y="2286000"/>
            <a:ext cx="5486400" cy="160020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2286000"/>
            <a:ext cx="64008" cy="16002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55080" y="2377440"/>
            <a:ext cx="5303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Menu — 8 pre-loaded cuisines, linked to bookings via ObjectId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Checklist — per-booking to-dos with priority &amp; due_date fields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Notification — type, message, read_status, recipient_ref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Message — in-app chat between client and admin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Inquiry — pre-booking questions with admin response thread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069080"/>
            <a:ext cx="5486400" cy="3657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2000" b="0" i="0">
                <a:solidFill>
                  <a:srgbClr val="8B6F47"/>
                </a:solidFill>
                <a:latin typeface="Liberation Serif"/>
              </a:rPr>
              <a:t>Design Highlights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434840"/>
            <a:ext cx="5486400" cy="9525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4572000"/>
            <a:ext cx="1280160" cy="109728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0" y="4681728"/>
            <a:ext cx="1280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4A3728"/>
                </a:solidFill>
                <a:latin typeface="Liberation Serif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257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A8894E"/>
                </a:solidFill>
                <a:latin typeface="Calibri"/>
              </a:rPr>
              <a:t>Schemas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4572000"/>
            <a:ext cx="1280160" cy="109728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35240" y="4681728"/>
            <a:ext cx="1280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4A3728"/>
                </a:solidFill>
                <a:latin typeface="Liberation Serif"/>
              </a:rPr>
              <a:t>30+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5257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A8894E"/>
                </a:solidFill>
                <a:latin typeface="Calibri"/>
              </a:rPr>
              <a:t>ObjectId Refs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4572000"/>
            <a:ext cx="1280160" cy="109728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52560" y="4681728"/>
            <a:ext cx="1280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4A3728"/>
                </a:solidFill>
                <a:latin typeface="Liberation Serif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257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A8894E"/>
                </a:solidFill>
                <a:latin typeface="Calibri"/>
              </a:rPr>
              <a:t>Enum Fields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469880" y="4572000"/>
            <a:ext cx="1280160" cy="109728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469880" y="4681728"/>
            <a:ext cx="1280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4A3728"/>
                </a:solidFill>
                <a:latin typeface="Liberation Serif"/>
              </a:rPr>
              <a:t>All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5257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A8894E"/>
                </a:solidFill>
                <a:latin typeface="Calibri"/>
              </a:rPr>
              <a:t>Timestamped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8521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8B6F47"/>
                </a:solidFill>
                <a:latin typeface="Calibri"/>
              </a:rPr>
              <a:t>All schemas leverage Mongoose middleware for validation, pre-save hashing, and population of referenced documents.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0" y="6510528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1">
                <a:solidFill>
                  <a:srgbClr val="A8894E"/>
                </a:solidFill>
                <a:latin typeface="Calibri"/>
              </a:rPr>
              <a:t>Page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5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4A3728"/>
                </a:solidFill>
                <a:latin typeface="Liberation Serif"/>
              </a:rPr>
              <a:t>Security &amp; Authentication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32688"/>
            <a:ext cx="2011680" cy="38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B6F47"/>
                </a:solidFill>
                <a:latin typeface="Calibri"/>
              </a:rPr>
              <a:t>Multi-layered security architecture protecting user data, sessions, and administrative operations across every request.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486400" cy="205740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64008" cy="2057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4A3728"/>
                </a:solidFill>
                <a:latin typeface="Liberation Serif"/>
              </a:rPr>
              <a:t>Password Hashing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A8894E"/>
                </a:solidFill>
                <a:latin typeface="Calibri"/>
              </a:rPr>
              <a:t>bcryptjs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Salted hashing with 10-round factor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Irreversible one-way cryptography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Pre-save Mongoose hook auto-hashes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486400" cy="205740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64008" cy="2057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4A3728"/>
                </a:solidFill>
                <a:latin typeface="Liberation Serif"/>
              </a:rPr>
              <a:t>Token 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A8894E"/>
                </a:solidFill>
                <a:latin typeface="Calibri"/>
              </a:rPr>
              <a:t>JWT + HTTP-only Cookies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5176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Signed with secret + 7-day expiry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HTTP-only flag blocks XSS theft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SameSite + Secure in 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77639"/>
            <a:ext cx="5486400" cy="205740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77639"/>
            <a:ext cx="64008" cy="2057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4A3728"/>
                </a:solidFill>
                <a:latin typeface="Liberation Serif"/>
              </a:rPr>
              <a:t>Authorization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59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A8894E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19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Roles: client, admin, vendor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authMiddleware guards all routes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Admin-only endpoints are gated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977639"/>
            <a:ext cx="5486400" cy="205740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77639"/>
            <a:ext cx="64008" cy="2057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406907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4A3728"/>
                </a:solidFill>
                <a:latin typeface="Liberation Serif"/>
              </a:rPr>
              <a:t>Network &amp; CORS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80559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A8894E"/>
                </a:solidFill>
                <a:latin typeface="Calibri"/>
              </a:rPr>
              <a:t>Whitelist + Credentials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46319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Origin whitelist for allowed domains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Credentials flag for cookie flow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E"/>
                </a:solidFill>
                <a:latin typeface="Calibri"/>
              </a:rPr>
              <a:t>•  </a:t>
            </a:r>
            <a:r>
              <a:rPr sz="1100">
                <a:solidFill>
                  <a:srgbClr val="5C4D3E"/>
                </a:solidFill>
                <a:latin typeface="Calibri"/>
              </a:rPr>
              <a:t>trust proxy for secure headers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1">
                <a:solidFill>
                  <a:srgbClr val="8B6F47"/>
                </a:solidFill>
                <a:latin typeface="Calibri"/>
              </a:rPr>
              <a:t>Login  →  bcrypt.compare()  →  jwt.sign()  →  set HTTP-only cookie  →  middleware verifies on every 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510528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1">
                <a:solidFill>
                  <a:srgbClr val="A8894E"/>
                </a:solidFill>
                <a:latin typeface="Calibri"/>
              </a:rPr>
              <a:t>Page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5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4A3728"/>
                </a:solidFill>
                <a:latin typeface="Liberation Serif"/>
              </a:rPr>
              <a:t>REST API Endpoints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32688"/>
            <a:ext cx="2011680" cy="38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B6F47"/>
                </a:solidFill>
                <a:latin typeface="Calibri"/>
              </a:rPr>
              <a:t>40+ RESTful endpoints organized across 12 route modules, following resource-based URL conventions and standard HTTP semantics.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70332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86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 b="1" dirty="0">
                <a:solidFill>
                  <a:srgbClr val="8B6F47"/>
                </a:solidFill>
                <a:latin typeface="Consolas"/>
              </a:rPr>
              <a:t>POST   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</a:t>
            </a:r>
            <a:r>
              <a:rPr sz="1000" dirty="0" err="1">
                <a:solidFill>
                  <a:srgbClr val="5C4D3E"/>
                </a:solidFill>
                <a:latin typeface="Consolas"/>
              </a:rPr>
              <a:t>api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/auth/register</a:t>
            </a:r>
          </a:p>
          <a:p>
            <a:pPr>
              <a:lnSpc>
                <a:spcPct val="125000"/>
              </a:lnSpc>
            </a:pPr>
            <a:r>
              <a:rPr sz="1000" b="1" dirty="0">
                <a:solidFill>
                  <a:srgbClr val="8B6F47"/>
                </a:solidFill>
                <a:latin typeface="Consolas"/>
              </a:rPr>
              <a:t>POST   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</a:t>
            </a:r>
            <a:r>
              <a:rPr sz="1000" dirty="0" err="1">
                <a:solidFill>
                  <a:srgbClr val="5C4D3E"/>
                </a:solidFill>
                <a:latin typeface="Consolas"/>
              </a:rPr>
              <a:t>api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/auth/login</a:t>
            </a:r>
          </a:p>
          <a:p>
            <a:pPr>
              <a:lnSpc>
                <a:spcPct val="125000"/>
              </a:lnSpc>
            </a:pPr>
            <a:r>
              <a:rPr sz="1000" b="1" dirty="0">
                <a:solidFill>
                  <a:srgbClr val="8B6F47"/>
                </a:solidFill>
                <a:latin typeface="Consolas"/>
              </a:rPr>
              <a:t>POST   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</a:t>
            </a:r>
            <a:r>
              <a:rPr sz="1000" dirty="0" err="1">
                <a:solidFill>
                  <a:srgbClr val="5C4D3E"/>
                </a:solidFill>
                <a:latin typeface="Consolas"/>
              </a:rPr>
              <a:t>api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/auth/logout</a:t>
            </a:r>
          </a:p>
          <a:p>
            <a:pPr>
              <a:lnSpc>
                <a:spcPct val="125000"/>
              </a:lnSpc>
            </a:pPr>
            <a:r>
              <a:rPr sz="1000" b="1" dirty="0">
                <a:solidFill>
                  <a:srgbClr val="A87A2E"/>
                </a:solidFill>
                <a:latin typeface="Consolas"/>
              </a:rPr>
              <a:t>PUT    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</a:t>
            </a:r>
            <a:r>
              <a:rPr sz="1000" dirty="0" err="1">
                <a:solidFill>
                  <a:srgbClr val="5C4D3E"/>
                </a:solidFill>
                <a:latin typeface="Consolas"/>
              </a:rPr>
              <a:t>api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/auth/update-profile</a:t>
            </a:r>
          </a:p>
          <a:p>
            <a:pPr>
              <a:lnSpc>
                <a:spcPct val="125000"/>
              </a:lnSpc>
            </a:pPr>
            <a:r>
              <a:rPr sz="1000" b="1" dirty="0">
                <a:solidFill>
                  <a:srgbClr val="A87A2E"/>
                </a:solidFill>
                <a:latin typeface="Consolas"/>
              </a:rPr>
              <a:t>PUT    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</a:t>
            </a:r>
            <a:r>
              <a:rPr sz="1000" dirty="0" err="1">
                <a:solidFill>
                  <a:srgbClr val="5C4D3E"/>
                </a:solidFill>
                <a:latin typeface="Consolas"/>
              </a:rPr>
              <a:t>api</a:t>
            </a:r>
            <a:r>
              <a:rPr sz="1000" dirty="0">
                <a:solidFill>
                  <a:srgbClr val="5C4D3E"/>
                </a:solidFill>
                <a:latin typeface="Consolas"/>
              </a:rPr>
              <a:t>/auth/change-password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783080"/>
            <a:ext cx="370332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2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Bookings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286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/api/bookings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/api/bookings/my-bookings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/api/bookings/admin/all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/api/bookings/booked-dates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/api/bookings/rebook/:id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783080"/>
            <a:ext cx="370332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1783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187452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Payments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286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/api/payments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/api/payments/my-payments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/api/payments/admin/all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/api/payments/admin/revenue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/api/payments/receipt/:id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69080"/>
            <a:ext cx="370332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069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16052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Guests &amp; RSVP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72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/api/guests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/api/guests/booking/:id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/api/guests/stats/:id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A87A2E"/>
                </a:solidFill>
                <a:latin typeface="Consolas"/>
              </a:rPr>
              <a:t>PUT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/api/guests/rsvp/:id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A84A3A"/>
                </a:solidFill>
                <a:latin typeface="Consolas"/>
              </a:rPr>
              <a:t>DELETE </a:t>
            </a:r>
            <a:r>
              <a:rPr sz="1000">
                <a:solidFill>
                  <a:srgbClr val="5C4D3E"/>
                </a:solidFill>
                <a:latin typeface="Consolas"/>
              </a:rPr>
              <a:t>/api/guests/:id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4069080"/>
            <a:ext cx="370332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89120" y="4069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0" y="416052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Vendors &amp; Reviews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4572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/api/vendors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/api/vendors/:category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/api/reviews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/api/reviews/admin/all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A87A2E"/>
                </a:solidFill>
                <a:latin typeface="Consolas"/>
              </a:rPr>
              <a:t>PUT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/api/reviews/reply/:id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069080"/>
            <a:ext cx="370332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9600" y="4069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0" y="416052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Utilities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4572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/api/notifications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/api/menus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/api/checklists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4A6E3C"/>
                </a:solidFill>
                <a:latin typeface="Consolas"/>
              </a:rPr>
              <a:t>GET    </a:t>
            </a:r>
            <a:r>
              <a:rPr sz="1000">
                <a:solidFill>
                  <a:srgbClr val="5C4D3E"/>
                </a:solidFill>
                <a:latin typeface="Consolas"/>
              </a:rPr>
              <a:t>/api/analytics/dashboard</a:t>
            </a:r>
          </a:p>
          <a:p>
            <a:pPr>
              <a:lnSpc>
                <a:spcPct val="125000"/>
              </a:lnSpc>
            </a:pPr>
            <a:r>
              <a:rPr sz="1000" b="1">
                <a:solidFill>
                  <a:srgbClr val="8B6F47"/>
                </a:solidFill>
                <a:latin typeface="Consolas"/>
              </a:rPr>
              <a:t>POST   </a:t>
            </a:r>
            <a:r>
              <a:rPr sz="1000">
                <a:solidFill>
                  <a:srgbClr val="5C4D3E"/>
                </a:solidFill>
                <a:latin typeface="Consolas"/>
              </a:rPr>
              <a:t>/api/chat/message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10528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1">
                <a:solidFill>
                  <a:srgbClr val="A8894E"/>
                </a:solidFill>
                <a:latin typeface="Calibri"/>
              </a:rPr>
              <a:t>Page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5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4A3728"/>
                </a:solidFill>
                <a:latin typeface="Liberation Serif"/>
              </a:rPr>
              <a:t>Challenges Faced &amp;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32688"/>
            <a:ext cx="2011680" cy="38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B6F47"/>
                </a:solidFill>
                <a:latin typeface="Calibri"/>
              </a:rPr>
              <a:t>Key engineering problems encountered during development and the architectural decisions taken to solve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48640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Double-Booking Conflicts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A84A3A"/>
                </a:solidFill>
                <a:latin typeface="Calibri"/>
              </a:rPr>
              <a:t>Problem: </a:t>
            </a:r>
            <a:r>
              <a:rPr sz="1100">
                <a:solidFill>
                  <a:srgbClr val="5C4D3E"/>
                </a:solidFill>
                <a:latin typeface="Calibri"/>
              </a:rPr>
              <a:t>Multiple clients requesting the same venue on the same date created data collisions.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E3C"/>
                </a:solidFill>
                <a:latin typeface="Calibri"/>
              </a:rPr>
              <a:t>Solution: </a:t>
            </a:r>
            <a:r>
              <a:rPr sz="1100">
                <a:solidFill>
                  <a:srgbClr val="5C4D3E"/>
                </a:solidFill>
                <a:latin typeface="Calibri"/>
              </a:rPr>
              <a:t>Implemented a server-side conflict-detection algorithm that queries existing bookings by venue + event_date; admin can 'Suggest New Date' to push a reschedule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48640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Granular Payment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A84A3A"/>
                </a:solidFill>
                <a:latin typeface="Calibri"/>
              </a:rPr>
              <a:t>Problem: </a:t>
            </a:r>
            <a:r>
              <a:rPr sz="1100">
                <a:solidFill>
                  <a:srgbClr val="5C4D3E"/>
                </a:solidFill>
                <a:latin typeface="Calibri"/>
              </a:rPr>
              <a:t>Payments come in as partial installments across cash, card, UPI, and bank transfer.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E3C"/>
                </a:solidFill>
                <a:latin typeface="Calibri"/>
              </a:rPr>
              <a:t>Solution: </a:t>
            </a:r>
            <a:r>
              <a:rPr sz="1100">
                <a:solidFill>
                  <a:srgbClr val="5C4D3E"/>
                </a:solidFill>
                <a:latin typeface="Calibri"/>
              </a:rPr>
              <a:t>Built a dedicated Payment model with method enum, receipt generation, and a revenue aggregation pipeline feeding the admin analytics dashboard.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69080"/>
            <a:ext cx="548640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4069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Real-Time User 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A84A3A"/>
                </a:solidFill>
                <a:latin typeface="Calibri"/>
              </a:rPr>
              <a:t>Problem: </a:t>
            </a:r>
            <a:r>
              <a:rPr sz="1100">
                <a:solidFill>
                  <a:srgbClr val="5C4D3E"/>
                </a:solidFill>
                <a:latin typeface="Calibri"/>
              </a:rPr>
              <a:t>Clients needed immediate confirmation on booking status changes and payment receipts.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E3C"/>
                </a:solidFill>
                <a:latin typeface="Calibri"/>
              </a:rPr>
              <a:t>Solution: </a:t>
            </a:r>
            <a:r>
              <a:rPr sz="1100">
                <a:solidFill>
                  <a:srgbClr val="5C4D3E"/>
                </a:solidFill>
                <a:latin typeface="Calibri"/>
              </a:rPr>
              <a:t>Designed a Notification model with type-tagged messages and an unread counter; the frontend polls and displays them via animated dashboard cards.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069080"/>
            <a:ext cx="5486400" cy="2148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069080"/>
            <a:ext cx="64008" cy="2148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4A3728"/>
                </a:solidFill>
                <a:latin typeface="Liberation Serif"/>
              </a:rPr>
              <a:t>Responsive Wedding Aesthetic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720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A84A3A"/>
                </a:solidFill>
                <a:latin typeface="Calibri"/>
              </a:rPr>
              <a:t>Problem: </a:t>
            </a:r>
            <a:r>
              <a:rPr sz="1100">
                <a:solidFill>
                  <a:srgbClr val="5C4D3E"/>
                </a:solidFill>
                <a:latin typeface="Calibri"/>
              </a:rPr>
              <a:t>A premium feel had to work from 320px mobile up to 4K displays without breaking layout.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21208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A6E3C"/>
                </a:solidFill>
                <a:latin typeface="Calibri"/>
              </a:rPr>
              <a:t>Solution: </a:t>
            </a:r>
            <a:r>
              <a:rPr sz="1100">
                <a:solidFill>
                  <a:srgbClr val="5C4D3E"/>
                </a:solidFill>
                <a:latin typeface="Calibri"/>
              </a:rPr>
              <a:t>Used Tailwind's utility system with custom breakpoints, Framer Motion transitions, glass-morphism cards, and SweetAlert2 for consistent dialog styling.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10528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1">
                <a:solidFill>
                  <a:srgbClr val="A8894E"/>
                </a:solidFill>
                <a:latin typeface="Calibri"/>
              </a:rPr>
              <a:t>Page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5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4A3728"/>
                </a:solidFill>
                <a:latin typeface="Liberation Serif"/>
              </a:rPr>
              <a:t>Future Scope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32688"/>
            <a:ext cx="2011680" cy="38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B6F47"/>
                </a:solidFill>
                <a:latin typeface="Calibri"/>
              </a:rPr>
              <a:t>Our platform is production-ready today, with a clear roadmap for expanding into a complete wedding-tech ecosystem.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2000" b="0" i="0">
                <a:solidFill>
                  <a:srgbClr val="8B6F47"/>
                </a:solidFill>
                <a:latin typeface="Liberation Serif"/>
              </a:rPr>
              <a:t>Planned Enhancements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5486400" cy="9525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5486400" cy="3291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64008" cy="3291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5212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Razorpay / Stripe payment gateway for live transactions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WhatsApp OTP login for frictionless client onboarding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AI-powered vendor recommendations based on budget &amp; style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Real-time chat via WebSocket / Socket.IO instead of polling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Native mobile app (React Native) for clients on the go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Multi-language support (English, Hindi, Bengali)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Automated email &amp; SMS reminders through Twilio / SendGrid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C9A96E"/>
                </a:solidFill>
                <a:latin typeface="Calibri"/>
              </a:rPr>
              <a:t>•  </a:t>
            </a:r>
            <a:r>
              <a:rPr sz="1200">
                <a:solidFill>
                  <a:srgbClr val="5C4D3E"/>
                </a:solidFill>
                <a:latin typeface="Calibri"/>
              </a:rPr>
              <a:t>Admin revenue forecasting with Chart.js visualizations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486400" cy="3657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2000" b="0" i="0">
                <a:solidFill>
                  <a:srgbClr val="8B6F47"/>
                </a:solidFill>
                <a:latin typeface="Liberation Serif"/>
              </a:rPr>
              <a:t>Project Conclusion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486400" cy="9525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5486400" cy="3291840"/>
          </a:xfrm>
          <a:prstGeom prst="rect">
            <a:avLst/>
          </a:prstGeom>
          <a:solidFill>
            <a:srgbClr val="FDFBF7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286000"/>
            <a:ext cx="64008" cy="329184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423160"/>
            <a:ext cx="5212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5C4D3E"/>
                </a:solidFill>
                <a:latin typeface="Calibri"/>
              </a:rPr>
              <a:t>The Wedding Banquet Management System successfully delivers an end-to-end solution that bridges couples, admins, and vendors on a single elegant platform.</a:t>
            </a:r>
          </a:p>
          <a:p>
            <a:pPr>
              <a:lnSpc>
                <a:spcPct val="135000"/>
              </a:lnSpc>
            </a:pPr>
            <a:endParaRPr sz="1200" b="0">
              <a:solidFill>
                <a:srgbClr val="5C4D3E"/>
              </a:solidFill>
              <a:latin typeface="Calibri"/>
            </a:endParaRPr>
          </a:p>
          <a:p>
            <a:pPr>
              <a:lnSpc>
                <a:spcPct val="135000"/>
              </a:lnSpc>
            </a:pPr>
            <a:r>
              <a:rPr sz="1200" b="0">
                <a:solidFill>
                  <a:srgbClr val="5C4D3E"/>
                </a:solidFill>
                <a:latin typeface="Calibri"/>
              </a:rPr>
              <a:t>Across 11 data models, 12 controller modules, and 40+ REST endpoints, the MERN stack has proven to be a scalable, maintainable foundation for real-world wedding operations.</a:t>
            </a:r>
          </a:p>
          <a:p>
            <a:pPr>
              <a:lnSpc>
                <a:spcPct val="135000"/>
              </a:lnSpc>
            </a:pPr>
            <a:endParaRPr sz="1200" b="0">
              <a:solidFill>
                <a:srgbClr val="5C4D3E"/>
              </a:solidFill>
              <a:latin typeface="Calibri"/>
            </a:endParaRPr>
          </a:p>
          <a:p>
            <a:pPr>
              <a:lnSpc>
                <a:spcPct val="135000"/>
              </a:lnSpc>
            </a:pPr>
            <a:r>
              <a:rPr sz="1200" b="0">
                <a:solidFill>
                  <a:srgbClr val="5C4D3E"/>
                </a:solidFill>
                <a:latin typeface="Calibri"/>
              </a:rPr>
              <a:t>The project strengthened our skills in full-stack architecture, secure authentication, database design, responsive UI, and agile collaboration.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3727" y="5760720"/>
            <a:ext cx="2103120" cy="685800"/>
          </a:xfrm>
          <a:prstGeom prst="roundRect">
            <a:avLst/>
          </a:prstGeom>
          <a:solidFill>
            <a:srgbClr val="F9F1E3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3727" y="580644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4A3728"/>
                </a:solidFill>
                <a:latin typeface="Liberation Serif"/>
              </a:rPr>
              <a:t>15+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727" y="614476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A8894E"/>
                </a:solidFill>
                <a:latin typeface="Calibri"/>
              </a:rPr>
              <a:t>React Pages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04007" y="5760720"/>
            <a:ext cx="2103120" cy="685800"/>
          </a:xfrm>
          <a:prstGeom prst="roundRect">
            <a:avLst/>
          </a:prstGeom>
          <a:solidFill>
            <a:srgbClr val="F9F1E3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04007" y="580644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4A3728"/>
                </a:solidFill>
                <a:latin typeface="Liberation Serif"/>
              </a:rPr>
              <a:t>40+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4007" y="614476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A8894E"/>
                </a:solidFill>
                <a:latin typeface="Calibri"/>
              </a:rPr>
              <a:t>API Endpoints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44287" y="5760720"/>
            <a:ext cx="2103120" cy="685800"/>
          </a:xfrm>
          <a:prstGeom prst="roundRect">
            <a:avLst/>
          </a:prstGeom>
          <a:solidFill>
            <a:srgbClr val="F9F1E3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44287" y="580644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4A3728"/>
                </a:solidFill>
                <a:latin typeface="Liberation Serif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4287" y="614476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A8894E"/>
                </a:solidFill>
                <a:latin typeface="Calibri"/>
              </a:rPr>
              <a:t>DB Models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4567" y="5760720"/>
            <a:ext cx="2103120" cy="685800"/>
          </a:xfrm>
          <a:prstGeom prst="roundRect">
            <a:avLst/>
          </a:prstGeom>
          <a:solidFill>
            <a:srgbClr val="F9F1E3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84567" y="580644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4A3728"/>
                </a:solidFill>
                <a:latin typeface="Liberation Serif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4567" y="614476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A8894E"/>
                </a:solidFill>
                <a:latin typeface="Calibri"/>
              </a:rPr>
              <a:t>User Roles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24847" y="5760720"/>
            <a:ext cx="2103120" cy="685800"/>
          </a:xfrm>
          <a:prstGeom prst="roundRect">
            <a:avLst/>
          </a:prstGeom>
          <a:solidFill>
            <a:srgbClr val="F9F1E3"/>
          </a:solidFill>
          <a:ln w="9525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24847" y="580644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4A3728"/>
                </a:solidFill>
                <a:latin typeface="Liberation Serif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4847" y="614476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A8894E"/>
                </a:solidFill>
                <a:latin typeface="Calibri"/>
              </a:rPr>
              <a:t>Responsive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8B6F47"/>
                </a:solidFill>
                <a:latin typeface="Liberation Serif"/>
              </a:rPr>
              <a:t>— Crafted with ❤ using React, Node.js, Express &amp; MongoDB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10528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1">
                <a:solidFill>
                  <a:srgbClr val="A8894E"/>
                </a:solidFill>
                <a:latin typeface="Calibri"/>
              </a:rPr>
              <a:t>Page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649681-39E6-C33C-20FC-7AFB5C1B04F4}"/>
              </a:ext>
            </a:extLst>
          </p:cNvPr>
          <p:cNvSpPr/>
          <p:nvPr/>
        </p:nvSpPr>
        <p:spPr>
          <a:xfrm>
            <a:off x="5265174" y="5073445"/>
            <a:ext cx="1661652" cy="786580"/>
          </a:xfrm>
          <a:prstGeom prst="rect">
            <a:avLst/>
          </a:prstGeom>
          <a:solidFill>
            <a:schemeClr val="bg2">
              <a:alpha val="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" name="Picture 1" descr="slide_10.png"/>
          <p:cNvPicPr>
            <a:picLocks noChangeAspect="1"/>
          </p:cNvPicPr>
          <p:nvPr/>
        </p:nvPicPr>
        <p:blipFill rotWithShape="1">
          <a:blip r:embed="rId2"/>
          <a:srcRect r="32719" b="32810"/>
          <a:stretch/>
        </p:blipFill>
        <p:spPr>
          <a:xfrm>
            <a:off x="1" y="0"/>
            <a:ext cx="12191999" cy="68488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A376375-02CF-F7BD-957E-FBD5BDDEF05F}"/>
                  </a:ext>
                </a:extLst>
              </p14:cNvPr>
              <p14:cNvContentPartPr/>
              <p14:nvPr/>
            </p14:nvContentPartPr>
            <p14:xfrm>
              <a:off x="3047690" y="20157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A376375-02CF-F7BD-957E-FBD5BDDEF0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9050" y="200671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B111EED-A3B3-26F3-9D5D-E25E75FB2889}"/>
              </a:ext>
            </a:extLst>
          </p:cNvPr>
          <p:cNvSpPr txBox="1"/>
          <p:nvPr/>
        </p:nvSpPr>
        <p:spPr>
          <a:xfrm>
            <a:off x="4139381" y="4693841"/>
            <a:ext cx="4522839" cy="1545787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FB0C8A1-015D-D75D-946B-4B04EEF567AB}"/>
              </a:ext>
            </a:extLst>
          </p:cNvPr>
          <p:cNvSpPr/>
          <p:nvPr/>
        </p:nvSpPr>
        <p:spPr>
          <a:xfrm>
            <a:off x="3910780" y="4886632"/>
            <a:ext cx="4370439" cy="37362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u="sng" dirty="0">
                <a:solidFill>
                  <a:srgbClr val="3D2C1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https://weeding-chapter.vercel.app</a:t>
            </a:r>
            <a:endParaRPr lang="en-IN" sz="1400" u="sng" dirty="0">
              <a:solidFill>
                <a:srgbClr val="3D2C1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1100</Words>
  <Application>Microsoft Office PowerPoint</Application>
  <PresentationFormat>Widescreen</PresentationFormat>
  <Paragraphs>164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Arial</vt:lpstr>
      <vt:lpstr>Calibri</vt:lpstr>
      <vt:lpstr>Cambria Math</vt:lpstr>
      <vt:lpstr>Consolas</vt:lpstr>
      <vt:lpstr>Liberation Serif</vt:lpstr>
      <vt:lpstr>Myanmar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Sagnik Saha</dc:creator>
  <cp:keywords>GodFather</cp:keywords>
  <dc:description>generated using python-pptx</dc:description>
  <cp:lastModifiedBy>Sagnik Saha</cp:lastModifiedBy>
  <cp:revision>7</cp:revision>
  <dcterms:created xsi:type="dcterms:W3CDTF">2013-01-27T09:14:16Z</dcterms:created>
  <dcterms:modified xsi:type="dcterms:W3CDTF">2026-04-19T18:14:36Z</dcterms:modified>
  <cp:category/>
</cp:coreProperties>
</file>